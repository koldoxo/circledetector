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58" r:id="rId5"/>
    <p:sldId id="262" r:id="rId6"/>
    <p:sldId id="260" r:id="rId7"/>
    <p:sldId id="265" r:id="rId8"/>
    <p:sldId id="263" r:id="rId9"/>
    <p:sldId id="264" r:id="rId10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D81D3-9059-7815-9163-0501B877D8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7CA7B0-87D5-5452-D3C1-859BC40518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1BB107-266B-7817-C07D-841DCD7DA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719BF-1833-4E34-A46C-F1A957D80C4E}" type="datetimeFigureOut">
              <a:rPr lang="en-DE" smtClean="0"/>
              <a:t>13/01/2026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6D37C-6ABA-B70C-5663-190DCBBF0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63474-4B83-5DC5-A97E-38D396079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C0771-789C-4BE0-9776-FAB92793DA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15458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EC100-5472-17C9-5F8B-8CD36349F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1510E-48F8-7B56-3DDA-A8583C1E9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17511-482A-B3F8-3C79-0B9B5DBC0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719BF-1833-4E34-A46C-F1A957D80C4E}" type="datetimeFigureOut">
              <a:rPr lang="en-DE" smtClean="0"/>
              <a:t>13/01/2026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E7C32-C4D3-B1E9-2626-411CFCE3C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D00D7-2447-40EF-47D7-84DD21C28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C0771-789C-4BE0-9776-FAB92793DA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5836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DE22F-044A-1709-0078-C5E831017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F52DCD-4CE5-EF3A-B20D-2C881DE09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0D192-9C14-8359-D6BD-8CBD63F24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719BF-1833-4E34-A46C-F1A957D80C4E}" type="datetimeFigureOut">
              <a:rPr lang="en-DE" smtClean="0"/>
              <a:t>13/01/2026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7864C-3AC5-E343-4727-A960062A6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9CF58-16F1-EE42-81DA-C62A8687E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C0771-789C-4BE0-9776-FAB92793DA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68485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6372A-BDE1-DE5E-9EA0-1B9F2BC96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3DEB3-F208-8899-3BA2-CC3D191FBA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AAC4E7-11B0-6F87-C0F2-9EC29A9FC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44E754-6CD1-5C2D-7D41-89F908B05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719BF-1833-4E34-A46C-F1A957D80C4E}" type="datetimeFigureOut">
              <a:rPr lang="en-DE" smtClean="0"/>
              <a:t>13/01/2026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EBF1F-E00F-098C-2DF1-9E6735BE7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493C3D-7787-305A-EC7F-3250F42E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C0771-789C-4BE0-9776-FAB92793DA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78748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47D11-7629-0A05-EA61-F777F2F4F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90EF8-586D-98FF-2556-C4E5FD2E7E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9F6FB4-9E46-75F0-6C9C-CF35D840D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E3A85F-6F48-3E4E-6A98-572E07C2AA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FC61B1-C81B-72C7-4BEC-F073E0FAFE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E10640-A899-0BE0-B204-7CDF523AD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719BF-1833-4E34-A46C-F1A957D80C4E}" type="datetimeFigureOut">
              <a:rPr lang="en-DE" smtClean="0"/>
              <a:t>13/01/2026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C4EDED-9D89-E737-6CF1-42E9D76C4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AFE685-2735-CCA3-5949-015F79D75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C0771-789C-4BE0-9776-FAB92793DA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64799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684A4-FFFC-7AFA-4EBA-2CFA0665D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E9ED9E-FD51-96A8-166B-A18B98093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719BF-1833-4E34-A46C-F1A957D80C4E}" type="datetimeFigureOut">
              <a:rPr lang="en-DE" smtClean="0"/>
              <a:t>13/01/2026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6A3ABE-FB39-5C81-7B5F-C724956C2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1A0E47-35B6-7A8C-EA78-A11DFC2E3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C0771-789C-4BE0-9776-FAB92793DA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63424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949561-8FC5-F6CF-5F08-85A9D9ED2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719BF-1833-4E34-A46C-F1A957D80C4E}" type="datetimeFigureOut">
              <a:rPr lang="en-DE" smtClean="0"/>
              <a:t>13/01/2026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87AC66-8829-8E16-EAE8-85E5086B6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C5D902-6E6B-D03E-3F28-F3017F151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C0771-789C-4BE0-9776-FAB92793DA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01943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2335E-3EDA-37FE-9607-ED1F3E7DA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4C927-90D3-FD7A-939D-40CA631E3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08120A-5AB4-7F50-63D2-2176378D0A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FB4532-7FA5-F19F-8AAC-9AADD169F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719BF-1833-4E34-A46C-F1A957D80C4E}" type="datetimeFigureOut">
              <a:rPr lang="en-DE" smtClean="0"/>
              <a:t>13/01/2026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87FA41-6243-D84A-EA36-F9B574A03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EBA070-CBBC-E266-8E82-DA301C0B8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C0771-789C-4BE0-9776-FAB92793DA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76895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55772-748C-1E8C-95B0-90C943478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2A390D-B1F7-DA4C-1351-937F9BEF39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0CC721-FF05-05DF-166C-8D18ABEE20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538C51-6FBC-79B3-CED1-FB6A1EBFC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719BF-1833-4E34-A46C-F1A957D80C4E}" type="datetimeFigureOut">
              <a:rPr lang="en-DE" smtClean="0"/>
              <a:t>13/01/2026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9A7562-201A-F97B-C0DB-CB9B012AF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05EB-D205-9818-EC4E-7BCD01F5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C0771-789C-4BE0-9776-FAB92793DA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07317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61569-402F-22E1-2849-7B63954AB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9AD528-50D1-000A-3F6B-DDD12E1A3B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2B203-D2C0-C4FD-13A6-7355D5545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719BF-1833-4E34-A46C-F1A957D80C4E}" type="datetimeFigureOut">
              <a:rPr lang="en-DE" smtClean="0"/>
              <a:t>13/01/2026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32D02-41C5-2A96-728C-10B12DCFE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21506-57BF-A5FD-D81F-8509C135A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C0771-789C-4BE0-9776-FAB92793DA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76021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AD6413-8EAD-7D00-07B5-0E8A4C00C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C95534-D124-7BCD-F54F-4934CC4EA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33663-7B35-9771-E9F0-9CA7202A1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719BF-1833-4E34-A46C-F1A957D80C4E}" type="datetimeFigureOut">
              <a:rPr lang="en-DE" smtClean="0"/>
              <a:t>13/01/2026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02B20-7761-9969-FFEF-9ABE57CC3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D0638-095C-7E6A-8C9F-9BA4DCF32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C0771-789C-4BE0-9776-FAB92793DA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69951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66BB29-D32E-EE99-9437-442E02A0B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AE48B9-F797-2744-3219-1309B47848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CAE85-49CA-4656-6579-5F88E303EA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6719BF-1833-4E34-A46C-F1A957D80C4E}" type="datetimeFigureOut">
              <a:rPr lang="en-DE" smtClean="0"/>
              <a:t>13/01/2026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26837-CB94-D6F5-D0EF-73040D0D6B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5971A1-7E4E-0268-3C39-AA51F85113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2C0771-789C-4BE0-9776-FAB92793DA9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65620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hyperlink" Target="https://github.com/DragosTana/image_processing.git" TargetMode="Externa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Plumess/Calculate-integral-image-using-cuda.git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hyperlink" Target="https://docs.nvidia.com/cuda/cuda-c-programming-guid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AE780-3B0B-1CD0-BFC3-1F7968A5A3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Interview Task</a:t>
            </a:r>
            <a:endParaRPr lang="en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6F4262-3EA9-36B9-1302-9EAE313402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Luis Torres-Cisneros</a:t>
            </a:r>
          </a:p>
          <a:p>
            <a:r>
              <a:rPr lang="en-US" dirty="0"/>
              <a:t>13.01.2026</a:t>
            </a:r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485836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929E5-10F8-3AF1-51C1-2FD7B0091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73D6-AF1B-92D0-202D-0B9663092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Visual Metrology: Edge Detection</a:t>
            </a:r>
            <a:endParaRPr lang="en-DE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4227B-0196-D6FC-6FA7-D9A832C802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Which state of the art approach will you use to detect relevant edges?</a:t>
            </a:r>
          </a:p>
          <a:p>
            <a:pPr lvl="1"/>
            <a:r>
              <a:rPr lang="en-US" sz="1800" dirty="0"/>
              <a:t>The classical most used (and robust) algorithms are Sobel or Canny filters. The former computes the first </a:t>
            </a:r>
            <a:r>
              <a:rPr lang="en-US" sz="1800" b="1" dirty="0">
                <a:solidFill>
                  <a:srgbClr val="0070C0"/>
                </a:solidFill>
              </a:rPr>
              <a:t>derivatives in both x and y </a:t>
            </a:r>
            <a:r>
              <a:rPr lang="en-US" sz="1800" dirty="0"/>
              <a:t>direction via kernel convolution and bases on magnitude of the gradient for edges.  The later used a similar procedure but also include </a:t>
            </a:r>
            <a:r>
              <a:rPr lang="en-US" sz="1800" b="1" dirty="0">
                <a:solidFill>
                  <a:srgbClr val="0070C0"/>
                </a:solidFill>
              </a:rPr>
              <a:t>edge thinning</a:t>
            </a:r>
            <a:r>
              <a:rPr lang="en-US" sz="1800" dirty="0"/>
              <a:t>.</a:t>
            </a:r>
          </a:p>
          <a:p>
            <a:r>
              <a:rPr lang="en-US" sz="1800" dirty="0"/>
              <a:t>Sketch how would you implement your solution. How would you validate your approach?</a:t>
            </a:r>
          </a:p>
          <a:p>
            <a:pPr marL="914400" lvl="1" indent="-457200">
              <a:buAutoNum type="arabicPeriod"/>
            </a:pPr>
            <a:r>
              <a:rPr lang="en-US" sz="1800" dirty="0"/>
              <a:t>Input Image</a:t>
            </a:r>
          </a:p>
          <a:p>
            <a:pPr marL="914400" lvl="1" indent="-457200">
              <a:buAutoNum type="arabicPeriod"/>
            </a:pPr>
            <a:r>
              <a:rPr lang="en-US" sz="1800" dirty="0"/>
              <a:t>Denoising + Edge Sharpening (i.e., bilateral filter)</a:t>
            </a:r>
          </a:p>
          <a:p>
            <a:pPr marL="914400" lvl="1" indent="-457200">
              <a:buAutoNum type="arabicPeriod"/>
            </a:pPr>
            <a:r>
              <a:rPr lang="en-US" sz="1800" b="1" dirty="0">
                <a:solidFill>
                  <a:srgbClr val="0070C0"/>
                </a:solidFill>
              </a:rPr>
              <a:t>Sobel/Cany Filter</a:t>
            </a:r>
          </a:p>
          <a:p>
            <a:pPr marL="914400" lvl="1" indent="-457200">
              <a:buAutoNum type="arabicPeriod"/>
            </a:pPr>
            <a:r>
              <a:rPr lang="en-US" sz="1800" dirty="0"/>
              <a:t>Thresholding (in case of inhomogeneous regions apply adaptive method)</a:t>
            </a:r>
          </a:p>
          <a:p>
            <a:pPr marL="914400" lvl="1" indent="-457200">
              <a:buAutoNum type="arabicPeriod"/>
            </a:pPr>
            <a:r>
              <a:rPr lang="en-US" sz="1800" dirty="0"/>
              <a:t>Morphological transformation</a:t>
            </a:r>
          </a:p>
          <a:p>
            <a:pPr marL="914400" lvl="1" indent="-457200">
              <a:buAutoNum type="arabicPeriod"/>
            </a:pPr>
            <a:r>
              <a:rPr lang="en-US" sz="1800" dirty="0"/>
              <a:t>Labeling (for instance, </a:t>
            </a:r>
            <a:r>
              <a:rPr lang="en-US" sz="1800" dirty="0" err="1"/>
              <a:t>Hoshen</a:t>
            </a:r>
            <a:r>
              <a:rPr lang="en-US" sz="1800" dirty="0"/>
              <a:t>-Kopelman algorithm)</a:t>
            </a:r>
          </a:p>
          <a:p>
            <a:pPr marL="914400" lvl="1" indent="-457200">
              <a:buAutoNum type="arabicPeriod"/>
            </a:pPr>
            <a:r>
              <a:rPr lang="en-US" sz="1800" dirty="0"/>
              <a:t>Approach validation is done via synthetic ground truth. </a:t>
            </a:r>
          </a:p>
        </p:txBody>
      </p:sp>
    </p:spTree>
    <p:extLst>
      <p:ext uri="{BB962C8B-B14F-4D97-AF65-F5344CB8AC3E}">
        <p14:creationId xmlns:p14="http://schemas.microsoft.com/office/powerpoint/2010/main" val="3691170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A4FC5-CFD2-87EE-BF5D-2AD682E25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2450"/>
            <a:ext cx="10515600" cy="5624513"/>
          </a:xfrm>
        </p:spPr>
        <p:txBody>
          <a:bodyPr>
            <a:normAutofit/>
          </a:bodyPr>
          <a:lstStyle/>
          <a:p>
            <a:r>
              <a:rPr lang="en-US" sz="1800" dirty="0"/>
              <a:t>How you envision the deployment into product C++ software?</a:t>
            </a:r>
          </a:p>
          <a:p>
            <a:pPr lvl="1"/>
            <a:r>
              <a:rPr lang="en-US" sz="1800" dirty="0"/>
              <a:t> Packaging via package managers as </a:t>
            </a:r>
            <a:r>
              <a:rPr lang="en-US" sz="1800" b="1" dirty="0">
                <a:solidFill>
                  <a:srgbClr val="0070C0"/>
                </a:solidFill>
              </a:rPr>
              <a:t>Conan or </a:t>
            </a:r>
            <a:r>
              <a:rPr lang="en-US" sz="1800" b="1" dirty="0" err="1">
                <a:solidFill>
                  <a:srgbClr val="0070C0"/>
                </a:solidFill>
              </a:rPr>
              <a:t>vcpkg</a:t>
            </a:r>
            <a:r>
              <a:rPr lang="en-US" sz="1800" b="1" dirty="0">
                <a:solidFill>
                  <a:srgbClr val="0070C0"/>
                </a:solidFill>
              </a:rPr>
              <a:t> </a:t>
            </a:r>
            <a:r>
              <a:rPr lang="en-US" sz="1800" dirty="0"/>
              <a:t>is the most stable way to achieve </a:t>
            </a:r>
            <a:r>
              <a:rPr lang="en-US" sz="1800" b="1" dirty="0">
                <a:solidFill>
                  <a:srgbClr val="0070C0"/>
                </a:solidFill>
              </a:rPr>
              <a:t>deployment and rapid integration</a:t>
            </a:r>
            <a:r>
              <a:rPr lang="en-US" sz="1800" dirty="0"/>
              <a:t>. They provide already a stable API for </a:t>
            </a:r>
            <a:r>
              <a:rPr lang="en-US" sz="1800" dirty="0" err="1"/>
              <a:t>CMake</a:t>
            </a:r>
            <a:r>
              <a:rPr lang="en-US" sz="1800" dirty="0"/>
              <a:t> project generation.</a:t>
            </a:r>
          </a:p>
          <a:p>
            <a:r>
              <a:rPr lang="en-US" sz="1800" dirty="0"/>
              <a:t>How do you achieve best speed and leverage modern CPU/GPU hardware?</a:t>
            </a:r>
          </a:p>
          <a:p>
            <a:pPr lvl="1"/>
            <a:r>
              <a:rPr lang="en-US" sz="1800" dirty="0"/>
              <a:t>Nowadays Multi-Core approaches are addressed via </a:t>
            </a:r>
            <a:r>
              <a:rPr lang="en-US" sz="1800" b="1" dirty="0">
                <a:solidFill>
                  <a:srgbClr val="0070C0"/>
                </a:solidFill>
              </a:rPr>
              <a:t>OpenMP</a:t>
            </a:r>
            <a:r>
              <a:rPr lang="en-US" sz="1800" dirty="0"/>
              <a:t>. OpenMP is an </a:t>
            </a:r>
            <a:r>
              <a:rPr lang="en-US" sz="1800" b="1" dirty="0">
                <a:solidFill>
                  <a:srgbClr val="0070C0"/>
                </a:solidFill>
              </a:rPr>
              <a:t>API with easy-use directives</a:t>
            </a:r>
            <a:r>
              <a:rPr lang="en-US" sz="1800" dirty="0"/>
              <a:t> that redistribute independent processes on single-thread execution and is supported by almost all compilers used in production. </a:t>
            </a:r>
          </a:p>
          <a:p>
            <a:pPr lvl="1"/>
            <a:r>
              <a:rPr lang="en-US" sz="1800" dirty="0"/>
              <a:t>On the other hand, parallelization can be also achieved by </a:t>
            </a:r>
            <a:r>
              <a:rPr lang="en-US" sz="1800" dirty="0" err="1"/>
              <a:t>subdiving</a:t>
            </a:r>
            <a:r>
              <a:rPr lang="en-US" sz="1800" dirty="0"/>
              <a:t> a picture into ROIs that can be moved from host to graphic cards via CUDA. </a:t>
            </a:r>
            <a:r>
              <a:rPr lang="en-US" sz="1800" b="1" dirty="0">
                <a:solidFill>
                  <a:srgbClr val="0070C0"/>
                </a:solidFill>
              </a:rPr>
              <a:t>CUDA offers an API for managing execution on graphic cards</a:t>
            </a:r>
            <a:r>
              <a:rPr lang="en-US" sz="1800" dirty="0"/>
              <a:t> depending on card architecture. </a:t>
            </a:r>
          </a:p>
          <a:p>
            <a:r>
              <a:rPr lang="en-US" sz="1800" dirty="0"/>
              <a:t>Where do you see challenges for your approach and how would you address those?</a:t>
            </a:r>
            <a:endParaRPr lang="en-DE" sz="1800" dirty="0"/>
          </a:p>
          <a:p>
            <a:pPr lvl="1"/>
            <a:r>
              <a:rPr lang="en-US" sz="1800" dirty="0"/>
              <a:t>The biggest challenge is thresholding corresponding </a:t>
            </a:r>
            <a:r>
              <a:rPr lang="en-US" sz="1800" b="1" dirty="0">
                <a:solidFill>
                  <a:srgbClr val="0070C0"/>
                </a:solidFill>
              </a:rPr>
              <a:t>edges without loosing connectivity</a:t>
            </a:r>
            <a:r>
              <a:rPr lang="en-US" sz="1800" dirty="0"/>
              <a:t> producing spurious contours. To this issue, some other algorithms for </a:t>
            </a:r>
            <a:r>
              <a:rPr lang="en-US" sz="1800" b="1" dirty="0">
                <a:solidFill>
                  <a:srgbClr val="0070C0"/>
                </a:solidFill>
              </a:rPr>
              <a:t>curve prediction-correction </a:t>
            </a:r>
            <a:r>
              <a:rPr lang="en-US" sz="1800" dirty="0"/>
              <a:t>can be used to look for dangling segments.</a:t>
            </a:r>
            <a:endParaRPr lang="en-DE" sz="1800" dirty="0"/>
          </a:p>
        </p:txBody>
      </p:sp>
    </p:spTree>
    <p:extLst>
      <p:ext uri="{BB962C8B-B14F-4D97-AF65-F5344CB8AC3E}">
        <p14:creationId xmlns:p14="http://schemas.microsoft.com/office/powerpoint/2010/main" val="2222895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7E652-A85C-575D-CEB7-259EE910B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Visual Metrology: Geometry estimation</a:t>
            </a:r>
            <a:endParaRPr lang="en-DE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643B8-61DA-8782-7024-72A0D00DD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2100"/>
            <a:ext cx="10515600" cy="4614863"/>
          </a:xfrm>
        </p:spPr>
        <p:txBody>
          <a:bodyPr>
            <a:normAutofit fontScale="92500" lnSpcReduction="10000"/>
          </a:bodyPr>
          <a:lstStyle/>
          <a:p>
            <a:r>
              <a:rPr lang="en-US" sz="1800" dirty="0"/>
              <a:t>How do you approach the fitting of circles based on edge maps?</a:t>
            </a:r>
          </a:p>
          <a:p>
            <a:pPr marL="800100" lvl="1" indent="-342900">
              <a:buAutoNum type="arabicPeriod"/>
            </a:pPr>
            <a:r>
              <a:rPr lang="en-US" sz="1800" b="1" dirty="0">
                <a:solidFill>
                  <a:schemeClr val="accent6"/>
                </a:solidFill>
              </a:rPr>
              <a:t>Preprocessing</a:t>
            </a:r>
            <a:r>
              <a:rPr lang="en-US" sz="1800" dirty="0"/>
              <a:t> (denoising and blurring for avoiding numerical jumps)</a:t>
            </a:r>
          </a:p>
          <a:p>
            <a:pPr marL="800100" lvl="1" indent="-342900">
              <a:buAutoNum type="arabicPeriod"/>
            </a:pPr>
            <a:r>
              <a:rPr lang="en-US" sz="1800" b="1" dirty="0">
                <a:solidFill>
                  <a:schemeClr val="accent6"/>
                </a:solidFill>
              </a:rPr>
              <a:t>Contour detection algorithm </a:t>
            </a:r>
            <a:r>
              <a:rPr lang="en-US" sz="1800" dirty="0"/>
              <a:t>(we opt for </a:t>
            </a:r>
            <a:r>
              <a:rPr lang="en-US" sz="1800" dirty="0" err="1"/>
              <a:t>findContours</a:t>
            </a:r>
            <a:r>
              <a:rPr lang="en-US" sz="1800" dirty="0"/>
              <a:t>() method by OpenCV 4)</a:t>
            </a:r>
          </a:p>
          <a:p>
            <a:pPr marL="800100" lvl="1" indent="-342900">
              <a:buAutoNum type="arabicPeriod"/>
            </a:pPr>
            <a:r>
              <a:rPr lang="en-US" sz="1800" b="1" dirty="0">
                <a:solidFill>
                  <a:schemeClr val="accent6"/>
                </a:solidFill>
              </a:rPr>
              <a:t>Contour processing</a:t>
            </a:r>
          </a:p>
          <a:p>
            <a:pPr marL="1257300" lvl="2" indent="-342900">
              <a:buAutoNum type="arabicPeriod"/>
            </a:pPr>
            <a:r>
              <a:rPr lang="en-US" sz="1800" dirty="0">
                <a:solidFill>
                  <a:srgbClr val="FF0000"/>
                </a:solidFill>
              </a:rPr>
              <a:t>Contour softening</a:t>
            </a:r>
          </a:p>
          <a:p>
            <a:pPr marL="1257300" lvl="2" indent="-342900">
              <a:buAutoNum type="arabicPeriod"/>
            </a:pPr>
            <a:r>
              <a:rPr lang="en-US" sz="1800" dirty="0"/>
              <a:t>Point selection</a:t>
            </a:r>
          </a:p>
          <a:p>
            <a:pPr marL="1257300" lvl="2" indent="-342900">
              <a:buAutoNum type="arabicPeriod"/>
            </a:pPr>
            <a:r>
              <a:rPr lang="en-US" sz="1800" dirty="0"/>
              <a:t>Polynomial expression for second derivative computation (i.e., curvature)</a:t>
            </a:r>
          </a:p>
          <a:p>
            <a:pPr marL="1257300" lvl="2" indent="-342900">
              <a:buAutoNum type="arabicPeriod"/>
            </a:pPr>
            <a:r>
              <a:rPr lang="en-US" sz="1800" dirty="0"/>
              <a:t>Local curvature computation</a:t>
            </a:r>
          </a:p>
          <a:p>
            <a:pPr marL="1257300" lvl="2" indent="-342900">
              <a:buAutoNum type="arabicPeriod"/>
            </a:pPr>
            <a:r>
              <a:rPr lang="en-US" sz="1800" dirty="0"/>
              <a:t>Curvature statistics for curvature tolerance (i.e., mean curvature </a:t>
            </a:r>
            <a:r>
              <a:rPr lang="en-US" sz="1800" dirty="0" err="1"/>
              <a:t>ans</a:t>
            </a:r>
            <a:r>
              <a:rPr lang="en-US" sz="1800" dirty="0"/>
              <a:t> standard deviation)</a:t>
            </a:r>
          </a:p>
          <a:p>
            <a:pPr marL="1257300" lvl="2" indent="-342900">
              <a:buAutoNum type="arabicPeriod"/>
            </a:pPr>
            <a:r>
              <a:rPr lang="en-US" sz="1800" dirty="0"/>
              <a:t>Circle </a:t>
            </a:r>
            <a:r>
              <a:rPr lang="en-US" sz="1800" dirty="0" err="1"/>
              <a:t>centre</a:t>
            </a:r>
            <a:r>
              <a:rPr lang="en-US" sz="1800" dirty="0"/>
              <a:t> computation</a:t>
            </a:r>
          </a:p>
          <a:p>
            <a:pPr marL="800100" lvl="1" indent="-342900">
              <a:buAutoNum type="arabicPeriod"/>
            </a:pPr>
            <a:r>
              <a:rPr lang="en-US" sz="1800" b="1" dirty="0">
                <a:solidFill>
                  <a:schemeClr val="accent6"/>
                </a:solidFill>
              </a:rPr>
              <a:t>Filter out circles by criteria</a:t>
            </a:r>
            <a:r>
              <a:rPr lang="en-US" sz="1800" dirty="0"/>
              <a:t> (</a:t>
            </a:r>
            <a:r>
              <a:rPr lang="en-US" sz="1800" dirty="0">
                <a:solidFill>
                  <a:srgbClr val="FF0000"/>
                </a:solidFill>
              </a:rPr>
              <a:t>arch length</a:t>
            </a:r>
            <a:r>
              <a:rPr lang="en-US" sz="1800" dirty="0"/>
              <a:t>, curvature distribution and radii size).</a:t>
            </a:r>
            <a:endParaRPr lang="en-US" sz="1400" dirty="0"/>
          </a:p>
          <a:p>
            <a:pPr marL="914400" lvl="2" indent="0">
              <a:buNone/>
            </a:pPr>
            <a:r>
              <a:rPr lang="en-US" sz="1400" dirty="0"/>
              <a:t>	 </a:t>
            </a:r>
          </a:p>
          <a:p>
            <a:pPr marL="457200" lvl="1" indent="0">
              <a:buNone/>
            </a:pPr>
            <a:r>
              <a:rPr lang="en-US" sz="1800" dirty="0"/>
              <a:t>Why?</a:t>
            </a:r>
          </a:p>
          <a:p>
            <a:pPr marL="457200" lvl="1" indent="0">
              <a:buNone/>
            </a:pPr>
            <a:r>
              <a:rPr lang="en-US" sz="1800" dirty="0"/>
              <a:t>We chose this approach because of the features provided by the </a:t>
            </a:r>
            <a:r>
              <a:rPr lang="en-US" sz="1800" b="1" dirty="0">
                <a:solidFill>
                  <a:srgbClr val="0070C0"/>
                </a:solidFill>
              </a:rPr>
              <a:t>probability maps</a:t>
            </a:r>
            <a:r>
              <a:rPr lang="en-US" sz="1800" dirty="0"/>
              <a:t>. These are </a:t>
            </a:r>
            <a:r>
              <a:rPr lang="en-US" sz="1800" b="1" dirty="0">
                <a:solidFill>
                  <a:srgbClr val="0070C0"/>
                </a:solidFill>
              </a:rPr>
              <a:t>gray scale images with almost well-defined contours</a:t>
            </a:r>
            <a:r>
              <a:rPr lang="en-US" sz="1800" dirty="0"/>
              <a:t>. This will require some extra preprocessing in order to soften found contours and extra steps to filter out non-circular objects. </a:t>
            </a:r>
            <a:r>
              <a:rPr lang="en-US" sz="1800" dirty="0" err="1"/>
              <a:t>Morever</a:t>
            </a:r>
            <a:r>
              <a:rPr lang="en-US" sz="1800" dirty="0"/>
              <a:t>, this approach is </a:t>
            </a:r>
            <a:r>
              <a:rPr lang="en-US" sz="1800" b="1" dirty="0">
                <a:solidFill>
                  <a:srgbClr val="0070C0"/>
                </a:solidFill>
              </a:rPr>
              <a:t>high-parallelizable</a:t>
            </a:r>
            <a:r>
              <a:rPr lang="en-US" sz="1800" dirty="0"/>
              <a:t> since at different levels we require solely loops.</a:t>
            </a:r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495654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272E3-F475-F1EF-8134-1C5A70C59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933D7-8077-9D26-E7FB-1D1360928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0525"/>
            <a:ext cx="10515600" cy="6343650"/>
          </a:xfrm>
        </p:spPr>
        <p:txBody>
          <a:bodyPr>
            <a:normAutofit lnSpcReduction="10000"/>
          </a:bodyPr>
          <a:lstStyle/>
          <a:p>
            <a:r>
              <a:rPr lang="en-US" sz="1800" dirty="0"/>
              <a:t>What is the best way to enable a fit that is robust to spurious edges?</a:t>
            </a:r>
          </a:p>
          <a:p>
            <a:pPr lvl="1"/>
            <a:r>
              <a:rPr lang="en-US" sz="1800" dirty="0"/>
              <a:t>Here, we need some way to fit and predict </a:t>
            </a:r>
            <a:r>
              <a:rPr lang="en-US" sz="1800" b="1" dirty="0">
                <a:solidFill>
                  <a:srgbClr val="0070C0"/>
                </a:solidFill>
              </a:rPr>
              <a:t>curve </a:t>
            </a:r>
            <a:r>
              <a:rPr lang="en-US" sz="1800" b="1" dirty="0" err="1">
                <a:solidFill>
                  <a:srgbClr val="0070C0"/>
                </a:solidFill>
              </a:rPr>
              <a:t>behaviour</a:t>
            </a:r>
            <a:r>
              <a:rPr lang="en-US" sz="1800" dirty="0"/>
              <a:t>. There might be a good chance to combine (for instance) a Kalman Filter or a Velocity </a:t>
            </a:r>
            <a:r>
              <a:rPr lang="en-US" sz="1800" dirty="0" err="1"/>
              <a:t>Verlet</a:t>
            </a:r>
            <a:r>
              <a:rPr lang="en-US" sz="1800" dirty="0"/>
              <a:t> algorithm attached to </a:t>
            </a:r>
            <a:r>
              <a:rPr lang="en-US" sz="1800" dirty="0" err="1"/>
              <a:t>Savitzky</a:t>
            </a:r>
            <a:r>
              <a:rPr lang="en-US" sz="1800" dirty="0"/>
              <a:t>-Golay curve softener.</a:t>
            </a:r>
          </a:p>
          <a:p>
            <a:r>
              <a:rPr lang="en-US" sz="1800" dirty="0"/>
              <a:t>What are the runtime and memory requirements and limitations?</a:t>
            </a:r>
          </a:p>
          <a:p>
            <a:pPr lvl="1"/>
            <a:r>
              <a:rPr lang="en-US" sz="1800" dirty="0"/>
              <a:t>The </a:t>
            </a:r>
            <a:r>
              <a:rPr lang="en-US" sz="1800" b="1" dirty="0">
                <a:solidFill>
                  <a:srgbClr val="0070C0"/>
                </a:solidFill>
              </a:rPr>
              <a:t>largest contour is limited by the image size cols*rows</a:t>
            </a:r>
            <a:r>
              <a:rPr lang="en-US" sz="1800" dirty="0"/>
              <a:t>. In prod environment images are about 2000x1000. A desktop computer can achieve up to 200 threads per execution. Then, in the limit case the largest contour could be divided into 10’000 batches. The current implementation takes about 50 </a:t>
            </a:r>
            <a:r>
              <a:rPr lang="en-US" sz="1800" dirty="0" err="1"/>
              <a:t>miliseconds</a:t>
            </a:r>
            <a:r>
              <a:rPr lang="en-US" sz="1800" dirty="0"/>
              <a:t>. Then, a contour of this size would take around 500 seconds. However, contours represent in most of the case a very small space of the picture, let us say smaller than 1%. Then, in this case </a:t>
            </a:r>
            <a:r>
              <a:rPr lang="en-US" sz="1800" b="1" dirty="0">
                <a:solidFill>
                  <a:srgbClr val="0070C0"/>
                </a:solidFill>
              </a:rPr>
              <a:t>the whole process should be lesser than 5 seconds</a:t>
            </a:r>
            <a:r>
              <a:rPr lang="en-US" sz="1800" dirty="0"/>
              <a:t>.   </a:t>
            </a:r>
          </a:p>
          <a:p>
            <a:r>
              <a:rPr lang="en-US" sz="1800" dirty="0"/>
              <a:t>How would you address the memory limitations?</a:t>
            </a:r>
          </a:p>
          <a:p>
            <a:pPr lvl="1"/>
            <a:r>
              <a:rPr lang="en-US" sz="1800" dirty="0"/>
              <a:t>Memory limitation can be </a:t>
            </a:r>
            <a:r>
              <a:rPr lang="en-US" sz="1800" dirty="0" err="1"/>
              <a:t>adressed</a:t>
            </a:r>
            <a:r>
              <a:rPr lang="en-US" sz="1800" dirty="0"/>
              <a:t> by analyzing </a:t>
            </a:r>
            <a:r>
              <a:rPr lang="en-US" sz="1800" b="1" dirty="0" err="1">
                <a:solidFill>
                  <a:srgbClr val="0070C0"/>
                </a:solidFill>
              </a:rPr>
              <a:t>countours</a:t>
            </a:r>
            <a:r>
              <a:rPr lang="en-US" sz="1800" b="1" dirty="0">
                <a:solidFill>
                  <a:srgbClr val="0070C0"/>
                </a:solidFill>
              </a:rPr>
              <a:t> by batches</a:t>
            </a:r>
            <a:r>
              <a:rPr lang="en-US" sz="1800" dirty="0"/>
              <a:t>. That, is depending on memory the batches should be prepared such that one single batch fits into whole available memory.</a:t>
            </a:r>
          </a:p>
          <a:p>
            <a:r>
              <a:rPr lang="en-US" sz="1800" dirty="0"/>
              <a:t>How can you optimize runtime?</a:t>
            </a:r>
          </a:p>
          <a:p>
            <a:pPr lvl="1"/>
            <a:r>
              <a:rPr lang="en-US" sz="1800" dirty="0"/>
              <a:t>Currently there is just one call to </a:t>
            </a:r>
            <a:r>
              <a:rPr lang="en-US" sz="1800" b="1" dirty="0">
                <a:solidFill>
                  <a:srgbClr val="0070C0"/>
                </a:solidFill>
              </a:rPr>
              <a:t>OpenMP-based parallelization</a:t>
            </a:r>
            <a:r>
              <a:rPr lang="en-US" sz="1800" dirty="0"/>
              <a:t>, even though there are some other parallelizable parts within the implementation. OMP can be then applied to other parts of the code to decrease computation time.</a:t>
            </a:r>
          </a:p>
          <a:p>
            <a:r>
              <a:rPr lang="en-US" sz="1800" dirty="0"/>
              <a:t>How do you ensure correctness?</a:t>
            </a:r>
          </a:p>
          <a:p>
            <a:pPr lvl="1"/>
            <a:r>
              <a:rPr lang="en-US" sz="1800" dirty="0"/>
              <a:t>We </a:t>
            </a:r>
            <a:r>
              <a:rPr lang="en-US" sz="1800" b="1" dirty="0">
                <a:solidFill>
                  <a:srgbClr val="0070C0"/>
                </a:solidFill>
              </a:rPr>
              <a:t>base the implementation on known synthetic data</a:t>
            </a:r>
            <a:r>
              <a:rPr lang="en-US" sz="1800" dirty="0"/>
              <a:t>. Then, functionality is ensured/obtained via unit-tests. In the end, integration tests are also included to assure the whole workflow. </a:t>
            </a:r>
          </a:p>
          <a:p>
            <a:pPr lvl="1"/>
            <a:endParaRPr lang="en-US" sz="1400" dirty="0"/>
          </a:p>
          <a:p>
            <a:pPr marL="0" indent="0"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49034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99787-8C04-03BE-1294-AECC7BE81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Integral Image</a:t>
            </a:r>
            <a:br>
              <a:rPr lang="en-US" sz="2800" dirty="0"/>
            </a:br>
            <a:endParaRPr lang="en-DE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659F8-D774-8F82-4E7F-503894474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3000"/>
            <a:ext cx="10515600" cy="5033963"/>
          </a:xfrm>
        </p:spPr>
        <p:txBody>
          <a:bodyPr>
            <a:normAutofit/>
          </a:bodyPr>
          <a:lstStyle/>
          <a:p>
            <a:r>
              <a:rPr lang="en-US" sz="1800" dirty="0"/>
              <a:t>Sketch an implementation on single- and multi-core.</a:t>
            </a:r>
            <a:endParaRPr lang="en-DE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C725EC-D132-6369-3607-B875633A1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970" y="1976438"/>
            <a:ext cx="5206713" cy="48387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2DCCA8D-3BEF-A834-763D-8644DA63D209}"/>
              </a:ext>
            </a:extLst>
          </p:cNvPr>
          <p:cNvSpPr txBox="1"/>
          <p:nvPr/>
        </p:nvSpPr>
        <p:spPr>
          <a:xfrm>
            <a:off x="2717643" y="1506022"/>
            <a:ext cx="8146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single</a:t>
            </a:r>
            <a:endParaRPr lang="en-DE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EF57A1-AE55-B2BF-85C6-BB0F6DC78257}"/>
              </a:ext>
            </a:extLst>
          </p:cNvPr>
          <p:cNvSpPr txBox="1"/>
          <p:nvPr/>
        </p:nvSpPr>
        <p:spPr>
          <a:xfrm>
            <a:off x="8657369" y="2039935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multi</a:t>
            </a:r>
            <a:endParaRPr lang="en-DE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0E1BFA-E281-4565-5B03-BB03501ACF7E}"/>
              </a:ext>
            </a:extLst>
          </p:cNvPr>
          <p:cNvSpPr/>
          <p:nvPr/>
        </p:nvSpPr>
        <p:spPr>
          <a:xfrm>
            <a:off x="608098" y="1955007"/>
            <a:ext cx="5033736" cy="4881562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75C12DB-61C5-33B5-4CD0-AF492BD22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94" y="2461111"/>
            <a:ext cx="5236036" cy="376769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4A29AF7-4DD8-99E6-D60B-4F9C73BDBF5F}"/>
              </a:ext>
            </a:extLst>
          </p:cNvPr>
          <p:cNvSpPr/>
          <p:nvPr/>
        </p:nvSpPr>
        <p:spPr>
          <a:xfrm>
            <a:off x="6360410" y="2461111"/>
            <a:ext cx="5331620" cy="376769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956AE080-5F2E-BADC-4F42-BAFA4BA0202B}"/>
              </a:ext>
            </a:extLst>
          </p:cNvPr>
          <p:cNvCxnSpPr>
            <a:cxnSpLocks/>
          </p:cNvCxnSpPr>
          <p:nvPr/>
        </p:nvCxnSpPr>
        <p:spPr>
          <a:xfrm flipV="1">
            <a:off x="4360318" y="5076825"/>
            <a:ext cx="3012032" cy="1103710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2984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82132-A967-366A-840E-1A677A736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FD515-73F6-95B3-5D16-8A23C37B7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Convolution example of vectorization</a:t>
            </a:r>
            <a:br>
              <a:rPr lang="en-US" sz="2800" dirty="0"/>
            </a:br>
            <a:endParaRPr lang="en-DE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2B314-36F7-97F0-DDD9-5AFB5AB8A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3000"/>
            <a:ext cx="10515600" cy="5033963"/>
          </a:xfrm>
        </p:spPr>
        <p:txBody>
          <a:bodyPr>
            <a:normAutofit/>
          </a:bodyPr>
          <a:lstStyle/>
          <a:p>
            <a:r>
              <a:rPr lang="en-US" sz="1800" dirty="0"/>
              <a:t>Sketch an implementation on single- and multi-core.</a:t>
            </a:r>
            <a:endParaRPr lang="en-DE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5935CF-A855-D4A7-6C77-451E89FB3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8115" y="72331"/>
            <a:ext cx="3543360" cy="28327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775B63-CC13-5EF9-D9E3-F38D0CFAD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909" y="1928671"/>
            <a:ext cx="4143953" cy="25530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53EDE56-39AF-D98D-E390-D32C308CFB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0908" y="4414767"/>
            <a:ext cx="4324954" cy="152421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045C3F2-C1E8-7C78-619C-91954B1F470B}"/>
              </a:ext>
            </a:extLst>
          </p:cNvPr>
          <p:cNvSpPr txBox="1"/>
          <p:nvPr/>
        </p:nvSpPr>
        <p:spPr>
          <a:xfrm>
            <a:off x="6716911" y="6313220"/>
            <a:ext cx="54750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5"/>
              </a:rPr>
              <a:t>https://github.com/DragosTana/image_processing.git</a:t>
            </a:r>
            <a:endParaRPr lang="en-US" dirty="0"/>
          </a:p>
          <a:p>
            <a:endParaRPr lang="en-DE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453AA0-38C4-65FB-973B-59393BAFF1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8475" y="2703979"/>
            <a:ext cx="5093000" cy="3242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135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BF28F-08AB-A408-D940-01D825D2E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85775"/>
            <a:ext cx="10515600" cy="5691188"/>
          </a:xfrm>
        </p:spPr>
        <p:txBody>
          <a:bodyPr>
            <a:normAutofit/>
          </a:bodyPr>
          <a:lstStyle/>
          <a:p>
            <a:r>
              <a:rPr lang="en-US" sz="1800" dirty="0"/>
              <a:t>How would you parallelize the computation on GPU?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B4EDE2-7935-A3F9-C82A-8352B3C21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4" y="862012"/>
            <a:ext cx="6643468" cy="56911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8DCF11-FB1F-2193-A252-B428AD5E0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686297"/>
            <a:ext cx="6248400" cy="20426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A9871D5-FBB8-33AA-4CA2-0CD3A830F3A1}"/>
              </a:ext>
            </a:extLst>
          </p:cNvPr>
          <p:cNvSpPr/>
          <p:nvPr/>
        </p:nvSpPr>
        <p:spPr>
          <a:xfrm>
            <a:off x="5943598" y="2686297"/>
            <a:ext cx="6248401" cy="202857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765590E-88E0-B296-51B8-306280C7C357}"/>
              </a:ext>
            </a:extLst>
          </p:cNvPr>
          <p:cNvCxnSpPr>
            <a:endCxn id="7" idx="1"/>
          </p:cNvCxnSpPr>
          <p:nvPr/>
        </p:nvCxnSpPr>
        <p:spPr>
          <a:xfrm flipV="1">
            <a:off x="1924050" y="3707606"/>
            <a:ext cx="4019550" cy="200739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7464C0A-BA53-0DE0-95EE-433DE65025FD}"/>
              </a:ext>
            </a:extLst>
          </p:cNvPr>
          <p:cNvSpPr txBox="1"/>
          <p:nvPr/>
        </p:nvSpPr>
        <p:spPr>
          <a:xfrm>
            <a:off x="5238750" y="6499264"/>
            <a:ext cx="70349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https://github.com/Plumess/Calculate-integral-image-using-cuda.git</a:t>
            </a:r>
            <a:endParaRPr lang="en-US" dirty="0"/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0489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8F3CF-795F-A742-9985-8495206CE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990600"/>
            <a:ext cx="10515600" cy="5186363"/>
          </a:xfrm>
        </p:spPr>
        <p:txBody>
          <a:bodyPr>
            <a:normAutofit/>
          </a:bodyPr>
          <a:lstStyle/>
          <a:p>
            <a:r>
              <a:rPr lang="en-US" sz="1800" dirty="0"/>
              <a:t>Reminder of threads and blocks CUDA</a:t>
            </a:r>
            <a:endParaRPr lang="en-DE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C6539A-23A2-C836-B02F-504CA5E72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34" y="1867561"/>
            <a:ext cx="5487166" cy="34580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C209ED-B969-F6AF-1F2E-79254D0E8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166" y="3358115"/>
            <a:ext cx="5790434" cy="26486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2B1844D-AA4E-F345-9D6D-6EB6C6FC5722}"/>
              </a:ext>
            </a:extLst>
          </p:cNvPr>
          <p:cNvSpPr txBox="1"/>
          <p:nvPr/>
        </p:nvSpPr>
        <p:spPr>
          <a:xfrm>
            <a:off x="6187151" y="6435654"/>
            <a:ext cx="60048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https://docs.nvidia.com/cuda/cuda-c-programming-guide/</a:t>
            </a:r>
            <a:endParaRPr lang="en-US" dirty="0"/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3C06C2-7EB3-DE07-4E09-9A6E9A959F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4585" y="33223"/>
            <a:ext cx="3791479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281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905</TotalTime>
  <Words>858</Words>
  <Application>Microsoft Office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Interview Task</vt:lpstr>
      <vt:lpstr>Visual Metrology: Edge Detection</vt:lpstr>
      <vt:lpstr>PowerPoint Presentation</vt:lpstr>
      <vt:lpstr>Visual Metrology: Geometry estimation</vt:lpstr>
      <vt:lpstr>PowerPoint Presentation</vt:lpstr>
      <vt:lpstr>Integral Image </vt:lpstr>
      <vt:lpstr>Convolution example of vectorization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Torres</dc:creator>
  <cp:lastModifiedBy>Luis Torres</cp:lastModifiedBy>
  <cp:revision>45</cp:revision>
  <dcterms:created xsi:type="dcterms:W3CDTF">2026-01-12T17:19:05Z</dcterms:created>
  <dcterms:modified xsi:type="dcterms:W3CDTF">2026-01-13T09:12:55Z</dcterms:modified>
</cp:coreProperties>
</file>